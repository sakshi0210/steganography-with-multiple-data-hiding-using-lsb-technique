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7.xml"/><Relationship Id="rId11" Type="http://schemas.openxmlformats.org/officeDocument/2006/relationships/slide" Target="slides/slide8.xml"/><Relationship Id="rId22" Type="http://schemas.openxmlformats.org/officeDocument/2006/relationships/slide" Target="slides/slide19.xml"/><Relationship Id="rId10" Type="http://schemas.openxmlformats.org/officeDocument/2006/relationships/slide" Target="slides/slide7.xml"/><Relationship Id="rId21" Type="http://schemas.openxmlformats.org/officeDocument/2006/relationships/slide" Target="slides/slide18.xml"/><Relationship Id="rId13" Type="http://schemas.openxmlformats.org/officeDocument/2006/relationships/slide" Target="slides/slide10.xml"/><Relationship Id="rId24" Type="http://schemas.openxmlformats.org/officeDocument/2006/relationships/slide" Target="slides/slide21.xml"/><Relationship Id="rId12" Type="http://schemas.openxmlformats.org/officeDocument/2006/relationships/slide" Target="slides/slide9.xml"/><Relationship Id="rId23" Type="http://schemas.openxmlformats.org/officeDocument/2006/relationships/slide" Target="slides/slide20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6" Type="http://schemas.openxmlformats.org/officeDocument/2006/relationships/slide" Target="slides/slide3.xml"/><Relationship Id="rId18" Type="http://schemas.openxmlformats.org/officeDocument/2006/relationships/slide" Target="slides/slide15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1/28/2022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1/28/2022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EA630-5F6A-416B-906A-937336333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1652" y="1831764"/>
            <a:ext cx="8791575" cy="2387600"/>
          </a:xfrm>
        </p:spPr>
        <p:txBody>
          <a:bodyPr>
            <a:noAutofit/>
          </a:bodyPr>
          <a:lstStyle/>
          <a:p>
            <a:pPr algn="ctr"/>
            <a:r>
              <a:rPr lang="en-US" sz="2400" dirty="0"/>
              <a:t>Indian Institute of Technology Bombay, DSP Internship.</a:t>
            </a:r>
            <a:br>
              <a:rPr lang="en-US" sz="2400" dirty="0"/>
            </a:br>
            <a:r>
              <a:rPr lang="en-US" sz="2400" dirty="0"/>
              <a:t>Design project through Inter-Institute Faculty-Student Peer Collaboration leading to Development of Various Applications based on Digital Signal Processing</a:t>
            </a:r>
            <a:r>
              <a:rPr lang="en-US" sz="2000" dirty="0"/>
              <a:t>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Indian Institute of Technology Bombay</a:t>
            </a:r>
            <a:br>
              <a:rPr lang="en-US" sz="2000" dirty="0"/>
            </a:br>
            <a:r>
              <a:rPr lang="en-US" sz="2000" dirty="0"/>
              <a:t>Industry Guide – Prof. V. M. </a:t>
            </a:r>
            <a:r>
              <a:rPr lang="en-US" sz="2000" dirty="0" err="1"/>
              <a:t>Gadre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PVG’S College Of  Engineering and Technology, Pune</a:t>
            </a:r>
            <a:br>
              <a:rPr lang="en-US" sz="2000" dirty="0"/>
            </a:br>
            <a:r>
              <a:rPr lang="en-US" sz="2000" dirty="0"/>
              <a:t>College Guide – Prof. M. </a:t>
            </a:r>
            <a:r>
              <a:rPr lang="en-US" sz="2000" dirty="0" err="1"/>
              <a:t>Atre</a:t>
            </a:r>
            <a:br>
              <a:rPr lang="en-US" sz="2000" dirty="0"/>
            </a:br>
            <a:r>
              <a:rPr lang="en-US" sz="2000" dirty="0"/>
              <a:t>		            Prof. T. </a:t>
            </a:r>
            <a:r>
              <a:rPr lang="en-US" sz="2000" dirty="0" err="1"/>
              <a:t>Khatavkar</a:t>
            </a:r>
            <a:br>
              <a:rPr lang="en-US" sz="2000" dirty="0"/>
            </a:br>
            <a:r>
              <a:rPr lang="en-US" sz="2000" dirty="0"/>
              <a:t>	                     Prof. M. </a:t>
            </a:r>
            <a:r>
              <a:rPr lang="en-US" sz="2000" dirty="0" err="1"/>
              <a:t>Potdar</a:t>
            </a:r>
            <a:endParaRPr lang="en-IN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B25C0B-230C-4B6E-AE23-04865C4A5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9713" y="4411240"/>
            <a:ext cx="9015454" cy="2191861"/>
          </a:xfrm>
        </p:spPr>
        <p:txBody>
          <a:bodyPr>
            <a:normAutofit/>
          </a:bodyPr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(Group 5)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</a:rPr>
              <a:t>Sakshi Vispute 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Gauri </a:t>
            </a:r>
            <a:r>
              <a:rPr lang="en-IN" sz="1600" dirty="0" err="1">
                <a:solidFill>
                  <a:schemeClr val="tx1"/>
                </a:solidFill>
              </a:rPr>
              <a:t>Mundada</a:t>
            </a:r>
            <a:r>
              <a:rPr lang="en-IN" sz="1600" dirty="0">
                <a:solidFill>
                  <a:schemeClr val="tx1"/>
                </a:solidFill>
              </a:rPr>
              <a:t> 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dirty="0" err="1">
                <a:solidFill>
                  <a:schemeClr val="tx1"/>
                </a:solidFill>
              </a:rPr>
              <a:t>Rutuja</a:t>
            </a:r>
            <a:r>
              <a:rPr lang="en-IN" sz="1600" dirty="0">
                <a:solidFill>
                  <a:schemeClr val="tx1"/>
                </a:solidFill>
              </a:rPr>
              <a:t> Gaikwad 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Pratik Hole 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Kaushal Rane </a:t>
            </a:r>
          </a:p>
        </p:txBody>
      </p:sp>
    </p:spTree>
    <p:extLst>
      <p:ext uri="{BB962C8B-B14F-4D97-AF65-F5344CB8AC3E}">
        <p14:creationId xmlns:p14="http://schemas.microsoft.com/office/powerpoint/2010/main" val="582132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24FDD-547E-4D96-9DB7-97E25CABA0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Problem Statements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1F7DB-CAFA-4C0E-AD1C-559F1F06AE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Steganography With Multiple Data Hiding Using LSB Techniques.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109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24FDD-547E-4D96-9DB7-97E25CABA0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What is Steganography?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1F7DB-CAFA-4C0E-AD1C-559F1F06AE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Steganography is the art and science of hiding one kind of data into another in such a way that no one, apart from the sender and intended recipient, suspects the existence of the secret data 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0421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B42C9-753A-468C-A944-DA71B790E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2F8B2-418A-4289-9B26-A0CF158035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We present an end-to-end video steganography approach.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We present an end-to-end </a:t>
            </a:r>
            <a:r>
              <a:rPr lang="en-US" dirty="0" err="1">
                <a:solidFill>
                  <a:schemeClr val="tx1"/>
                </a:solidFill>
              </a:rPr>
              <a:t>Colour</a:t>
            </a:r>
            <a:r>
              <a:rPr lang="en-US" dirty="0">
                <a:solidFill>
                  <a:schemeClr val="tx1"/>
                </a:solidFill>
              </a:rPr>
              <a:t> image steganography approach.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 do multiple data hiding, to increase data security.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0215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DFCA8-7110-4A43-B7DC-B2B866098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340" y="311020"/>
            <a:ext cx="9905998" cy="1478570"/>
          </a:xfrm>
        </p:spPr>
        <p:txBody>
          <a:bodyPr/>
          <a:lstStyle/>
          <a:p>
            <a:pPr algn="ctr"/>
            <a:r>
              <a:rPr lang="en-IN" dirty="0"/>
              <a:t>Image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D2FEF-B20E-4814-9745-D6D4C1398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383" y="1787567"/>
            <a:ext cx="3576680" cy="126313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Text inside Image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Image inside a Image </a:t>
            </a:r>
          </a:p>
          <a:p>
            <a:endParaRPr lang="en-IN" dirty="0"/>
          </a:p>
        </p:txBody>
      </p:sp>
      <p:sp>
        <p:nvSpPr>
          <p:cNvPr id="4" name="Google Shape;189;p6">
            <a:extLst>
              <a:ext uri="{FF2B5EF4-FFF2-40B4-BE49-F238E27FC236}">
                <a16:creationId xmlns:a16="http://schemas.microsoft.com/office/drawing/2014/main" id="{DF82DCC7-ACFE-4550-9AE8-540493BB070F}"/>
              </a:ext>
            </a:extLst>
          </p:cNvPr>
          <p:cNvSpPr/>
          <p:nvPr/>
        </p:nvSpPr>
        <p:spPr>
          <a:xfrm>
            <a:off x="4956657" y="3266137"/>
            <a:ext cx="1207363" cy="585617"/>
          </a:xfrm>
          <a:prstGeom prst="roundRect">
            <a:avLst>
              <a:gd name="adj" fmla="val 16667"/>
            </a:avLst>
          </a:prstGeom>
          <a:solidFill>
            <a:srgbClr val="D4ECA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1600" b="1" kern="0" dirty="0" err="1">
                <a:solidFill>
                  <a:srgbClr val="2C3C43"/>
                </a:solidFill>
                <a:latin typeface="Trebuchet MS"/>
                <a:ea typeface="Trebuchet MS"/>
                <a:cs typeface="Trebuchet MS"/>
                <a:sym typeface="Trebuchet MS"/>
              </a:rPr>
              <a:t>Stego</a:t>
            </a:r>
            <a:r>
              <a:rPr lang="en-US" sz="1600" b="1" kern="0" dirty="0">
                <a:solidFill>
                  <a:srgbClr val="2C3C43"/>
                </a:solidFill>
                <a:latin typeface="Trebuchet MS"/>
                <a:ea typeface="Trebuchet MS"/>
                <a:cs typeface="Trebuchet MS"/>
                <a:sym typeface="Trebuchet MS"/>
              </a:rPr>
              <a:t> Key</a:t>
            </a:r>
            <a:endParaRPr sz="1600" b="1" kern="0" dirty="0">
              <a:solidFill>
                <a:srgbClr val="2C3C4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" name="Google Shape;185;p6">
            <a:extLst>
              <a:ext uri="{FF2B5EF4-FFF2-40B4-BE49-F238E27FC236}">
                <a16:creationId xmlns:a16="http://schemas.microsoft.com/office/drawing/2014/main" id="{194C4304-5433-48F2-A7AD-9E4FAB225089}"/>
              </a:ext>
            </a:extLst>
          </p:cNvPr>
          <p:cNvSpPr/>
          <p:nvPr/>
        </p:nvSpPr>
        <p:spPr>
          <a:xfrm>
            <a:off x="5423248" y="3860680"/>
            <a:ext cx="294628" cy="50750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0C226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" name="Google Shape;184;p6">
            <a:extLst>
              <a:ext uri="{FF2B5EF4-FFF2-40B4-BE49-F238E27FC236}">
                <a16:creationId xmlns:a16="http://schemas.microsoft.com/office/drawing/2014/main" id="{D13E2B2F-2AD8-41B3-9CFE-BCD342C0F93C}"/>
              </a:ext>
            </a:extLst>
          </p:cNvPr>
          <p:cNvSpPr/>
          <p:nvPr/>
        </p:nvSpPr>
        <p:spPr>
          <a:xfrm>
            <a:off x="4687233" y="4377113"/>
            <a:ext cx="1766657" cy="861134"/>
          </a:xfrm>
          <a:prstGeom prst="roundRect">
            <a:avLst>
              <a:gd name="adj" fmla="val 16667"/>
            </a:avLst>
          </a:prstGeom>
          <a:solidFill>
            <a:srgbClr val="D4ECA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2C3C43"/>
                </a:solidFill>
                <a:latin typeface="Trebuchet MS"/>
                <a:ea typeface="Trebuchet MS"/>
                <a:cs typeface="Trebuchet MS"/>
                <a:sym typeface="Trebuchet MS"/>
              </a:rPr>
              <a:t>Embedding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2C3C43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</a:t>
            </a:r>
            <a:endParaRPr b="1" kern="0" dirty="0">
              <a:solidFill>
                <a:srgbClr val="2C3C4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" name="Google Shape;188;p6">
            <a:extLst>
              <a:ext uri="{FF2B5EF4-FFF2-40B4-BE49-F238E27FC236}">
                <a16:creationId xmlns:a16="http://schemas.microsoft.com/office/drawing/2014/main" id="{E3AC11EA-384D-4C26-9720-CFAE1991D9E8}"/>
              </a:ext>
            </a:extLst>
          </p:cNvPr>
          <p:cNvSpPr/>
          <p:nvPr/>
        </p:nvSpPr>
        <p:spPr>
          <a:xfrm>
            <a:off x="5423248" y="5247173"/>
            <a:ext cx="294628" cy="49863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90C226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" name="Google Shape;191;p6">
            <a:extLst>
              <a:ext uri="{FF2B5EF4-FFF2-40B4-BE49-F238E27FC236}">
                <a16:creationId xmlns:a16="http://schemas.microsoft.com/office/drawing/2014/main" id="{B8CD68C1-6F35-4AAD-85FF-615B72E99AF2}"/>
              </a:ext>
            </a:extLst>
          </p:cNvPr>
          <p:cNvSpPr/>
          <p:nvPr/>
        </p:nvSpPr>
        <p:spPr>
          <a:xfrm>
            <a:off x="4867516" y="5742425"/>
            <a:ext cx="1487010" cy="804556"/>
          </a:xfrm>
          <a:prstGeom prst="roundRect">
            <a:avLst>
              <a:gd name="adj" fmla="val 16667"/>
            </a:avLst>
          </a:prstGeom>
          <a:solidFill>
            <a:srgbClr val="D4ECA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IN" sz="1600" kern="0" dirty="0">
                <a:solidFill>
                  <a:schemeClr val="bg1"/>
                </a:solidFill>
                <a:latin typeface="Trebuchet MS"/>
                <a:ea typeface="Trebuchet MS"/>
                <a:cs typeface="Trebuchet MS"/>
                <a:sym typeface="Trebuchet MS"/>
              </a:rPr>
              <a:t>Secret Image</a:t>
            </a:r>
          </a:p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IN" sz="1600" kern="0" dirty="0">
                <a:solidFill>
                  <a:schemeClr val="bg1"/>
                </a:solidFill>
                <a:latin typeface="Trebuchet MS"/>
                <a:ea typeface="Trebuchet MS"/>
                <a:cs typeface="Trebuchet MS"/>
                <a:sym typeface="Trebuchet MS"/>
              </a:rPr>
              <a:t>   Or Text</a:t>
            </a:r>
          </a:p>
          <a:p>
            <a:pPr algn="ctr" defTabSz="914400">
              <a:buClr>
                <a:srgbClr val="000000"/>
              </a:buClr>
              <a:buFont typeface="Arial"/>
              <a:buNone/>
            </a:pPr>
            <a:endParaRPr kern="0" dirty="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" name="Google Shape;192;p6">
            <a:extLst>
              <a:ext uri="{FF2B5EF4-FFF2-40B4-BE49-F238E27FC236}">
                <a16:creationId xmlns:a16="http://schemas.microsoft.com/office/drawing/2014/main" id="{7295B53B-76CF-403A-A814-71BC36910E97}"/>
              </a:ext>
            </a:extLst>
          </p:cNvPr>
          <p:cNvSpPr/>
          <p:nvPr/>
        </p:nvSpPr>
        <p:spPr>
          <a:xfrm>
            <a:off x="2884442" y="4464729"/>
            <a:ext cx="1198485" cy="603682"/>
          </a:xfrm>
          <a:prstGeom prst="roundRect">
            <a:avLst>
              <a:gd name="adj" fmla="val 16667"/>
            </a:avLst>
          </a:prstGeom>
          <a:solidFill>
            <a:srgbClr val="D4ECA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1600" b="1" kern="0" dirty="0">
                <a:solidFill>
                  <a:srgbClr val="2C3C43"/>
                </a:solidFill>
                <a:latin typeface="Trebuchet MS"/>
                <a:ea typeface="Trebuchet MS"/>
                <a:cs typeface="Trebuchet MS"/>
                <a:sym typeface="Trebuchet MS"/>
              </a:rPr>
              <a:t>Cover Image</a:t>
            </a:r>
            <a:endParaRPr sz="1600" b="1" kern="0" dirty="0">
              <a:solidFill>
                <a:srgbClr val="2C3C4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" name="Google Shape;186;p6">
            <a:extLst>
              <a:ext uri="{FF2B5EF4-FFF2-40B4-BE49-F238E27FC236}">
                <a16:creationId xmlns:a16="http://schemas.microsoft.com/office/drawing/2014/main" id="{F1EF39EC-205A-40E5-9708-41A7CCA2BA49}"/>
              </a:ext>
            </a:extLst>
          </p:cNvPr>
          <p:cNvSpPr/>
          <p:nvPr/>
        </p:nvSpPr>
        <p:spPr>
          <a:xfrm>
            <a:off x="4082927" y="4672570"/>
            <a:ext cx="604306" cy="2702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0C226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" name="Google Shape;187;p6">
            <a:extLst>
              <a:ext uri="{FF2B5EF4-FFF2-40B4-BE49-F238E27FC236}">
                <a16:creationId xmlns:a16="http://schemas.microsoft.com/office/drawing/2014/main" id="{1FD1C895-A72B-4E81-8DCE-A7C7ABA2DF49}"/>
              </a:ext>
            </a:extLst>
          </p:cNvPr>
          <p:cNvSpPr/>
          <p:nvPr/>
        </p:nvSpPr>
        <p:spPr>
          <a:xfrm>
            <a:off x="6453890" y="4649099"/>
            <a:ext cx="558668" cy="31716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0C226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" name="Google Shape;190;p6">
            <a:extLst>
              <a:ext uri="{FF2B5EF4-FFF2-40B4-BE49-F238E27FC236}">
                <a16:creationId xmlns:a16="http://schemas.microsoft.com/office/drawing/2014/main" id="{4EB5CCF0-CD14-4C4F-905C-A043EACD7866}"/>
              </a:ext>
            </a:extLst>
          </p:cNvPr>
          <p:cNvSpPr/>
          <p:nvPr/>
        </p:nvSpPr>
        <p:spPr>
          <a:xfrm>
            <a:off x="7012558" y="4386039"/>
            <a:ext cx="1136342" cy="682372"/>
          </a:xfrm>
          <a:prstGeom prst="roundRect">
            <a:avLst>
              <a:gd name="adj" fmla="val 16667"/>
            </a:avLst>
          </a:prstGeom>
          <a:solidFill>
            <a:srgbClr val="D4ECA1"/>
          </a:solidFill>
          <a:ln w="19050" cap="rnd" cmpd="sng">
            <a:solidFill>
              <a:srgbClr val="698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IN" sz="1400" kern="0" dirty="0" err="1">
                <a:solidFill>
                  <a:schemeClr val="bg1"/>
                </a:solidFill>
                <a:latin typeface="Trebuchet MS"/>
                <a:ea typeface="Trebuchet MS"/>
                <a:cs typeface="Trebuchet MS"/>
                <a:sym typeface="Trebuchet MS"/>
              </a:rPr>
              <a:t>Stego</a:t>
            </a:r>
            <a:endParaRPr lang="en-IN" sz="1400" kern="0" dirty="0">
              <a:solidFill>
                <a:schemeClr val="bg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IN" sz="1400" kern="0" dirty="0">
                <a:solidFill>
                  <a:schemeClr val="bg1"/>
                </a:solidFill>
                <a:latin typeface="Trebuchet MS"/>
                <a:ea typeface="Trebuchet MS"/>
                <a:cs typeface="Trebuchet MS"/>
                <a:sym typeface="Trebuchet MS"/>
              </a:rPr>
              <a:t>Image</a:t>
            </a:r>
          </a:p>
          <a:p>
            <a:pPr algn="ctr" defTabSz="914400">
              <a:buClr>
                <a:srgbClr val="000000"/>
              </a:buClr>
              <a:buFont typeface="Arial"/>
              <a:buNone/>
            </a:pPr>
            <a:endParaRPr kern="0" dirty="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48489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81718-6F94-4A0A-9B35-4199FF8C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0213" y="2520146"/>
            <a:ext cx="9905998" cy="1478570"/>
          </a:xfrm>
        </p:spPr>
        <p:txBody>
          <a:bodyPr/>
          <a:lstStyle/>
          <a:p>
            <a:r>
              <a:rPr lang="en-IN" dirty="0"/>
              <a:t>Video Steganography</a:t>
            </a:r>
          </a:p>
        </p:txBody>
      </p:sp>
    </p:spTree>
    <p:extLst>
      <p:ext uri="{BB962C8B-B14F-4D97-AF65-F5344CB8AC3E}">
        <p14:creationId xmlns:p14="http://schemas.microsoft.com/office/powerpoint/2010/main" val="3530615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DC9E3-1C73-48FD-BEEF-BFA415DA54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Why Video Steganography 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E5541B-ADDD-4A45-8D9E-11F4840F0F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1. Imperceptibility     ​</a:t>
            </a:r>
          </a:p>
          <a:p>
            <a:r>
              <a:rPr lang="en-US" dirty="0">
                <a:solidFill>
                  <a:schemeClr val="tx1"/>
                </a:solidFill>
              </a:rPr>
              <a:t>2. Capacity     ​</a:t>
            </a:r>
          </a:p>
          <a:p>
            <a:r>
              <a:rPr lang="en-US" dirty="0">
                <a:solidFill>
                  <a:schemeClr val="tx1"/>
                </a:solidFill>
              </a:rPr>
              <a:t>3. Robustness   ​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0838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9AB1F-AE1F-44E9-A38C-6E18996F1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 - Encoding</a:t>
            </a:r>
          </a:p>
        </p:txBody>
      </p:sp>
      <p:sp>
        <p:nvSpPr>
          <p:cNvPr id="4" name="Google Shape;213;p9">
            <a:extLst>
              <a:ext uri="{FF2B5EF4-FFF2-40B4-BE49-F238E27FC236}">
                <a16:creationId xmlns:a16="http://schemas.microsoft.com/office/drawing/2014/main" id="{2C6C2F2C-4FC6-42F4-BDF3-7DC5C4926400}"/>
              </a:ext>
            </a:extLst>
          </p:cNvPr>
          <p:cNvSpPr/>
          <p:nvPr/>
        </p:nvSpPr>
        <p:spPr>
          <a:xfrm>
            <a:off x="5201341" y="1731462"/>
            <a:ext cx="1134487" cy="731252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Input cover video (AV) file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Google Shape;215;p9">
            <a:extLst>
              <a:ext uri="{FF2B5EF4-FFF2-40B4-BE49-F238E27FC236}">
                <a16:creationId xmlns:a16="http://schemas.microsoft.com/office/drawing/2014/main" id="{EAAEAFB2-95F3-42D7-B146-A997BB1273F1}"/>
              </a:ext>
            </a:extLst>
          </p:cNvPr>
          <p:cNvSpPr/>
          <p:nvPr/>
        </p:nvSpPr>
        <p:spPr>
          <a:xfrm>
            <a:off x="4868484" y="2631344"/>
            <a:ext cx="1800200" cy="648072"/>
          </a:xfrm>
          <a:prstGeom prst="rect">
            <a:avLst/>
          </a:prstGeom>
          <a:solidFill>
            <a:srgbClr val="000000"/>
          </a:solidFill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collect information of the input file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Google Shape;219;p9">
            <a:extLst>
              <a:ext uri="{FF2B5EF4-FFF2-40B4-BE49-F238E27FC236}">
                <a16:creationId xmlns:a16="http://schemas.microsoft.com/office/drawing/2014/main" id="{41B3AE2E-3A50-4720-B3DB-3E83F92E532C}"/>
              </a:ext>
            </a:extLst>
          </p:cNvPr>
          <p:cNvSpPr/>
          <p:nvPr/>
        </p:nvSpPr>
        <p:spPr>
          <a:xfrm>
            <a:off x="5360877" y="3469471"/>
            <a:ext cx="853492" cy="792088"/>
          </a:xfrm>
          <a:prstGeom prst="rect">
            <a:avLst/>
          </a:prstGeom>
          <a:solidFill>
            <a:srgbClr val="000000"/>
          </a:solidFill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Cover frames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Google Shape;226;p9">
            <a:extLst>
              <a:ext uri="{FF2B5EF4-FFF2-40B4-BE49-F238E27FC236}">
                <a16:creationId xmlns:a16="http://schemas.microsoft.com/office/drawing/2014/main" id="{D8825EA9-381A-4794-A21E-0385F10E481D}"/>
              </a:ext>
            </a:extLst>
          </p:cNvPr>
          <p:cNvSpPr/>
          <p:nvPr/>
        </p:nvSpPr>
        <p:spPr>
          <a:xfrm>
            <a:off x="3930855" y="4534577"/>
            <a:ext cx="1008113" cy="452672"/>
          </a:xfrm>
          <a:prstGeom prst="rect">
            <a:avLst/>
          </a:prstGeom>
          <a:solidFill>
            <a:srgbClr val="000000"/>
          </a:solidFill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frame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Google Shape;232;p9">
            <a:extLst>
              <a:ext uri="{FF2B5EF4-FFF2-40B4-BE49-F238E27FC236}">
                <a16:creationId xmlns:a16="http://schemas.microsoft.com/office/drawing/2014/main" id="{144E7DAE-B455-4276-94C2-5CFA82A1D009}"/>
              </a:ext>
            </a:extLst>
          </p:cNvPr>
          <p:cNvSpPr/>
          <p:nvPr/>
        </p:nvSpPr>
        <p:spPr>
          <a:xfrm>
            <a:off x="2474376" y="4534577"/>
            <a:ext cx="1093200" cy="566700"/>
          </a:xfrm>
          <a:prstGeom prst="rect">
            <a:avLst/>
          </a:prstGeom>
          <a:solidFill>
            <a:srgbClr val="000000"/>
          </a:solidFill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Secret Image/ Text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Google Shape;227;p9">
            <a:extLst>
              <a:ext uri="{FF2B5EF4-FFF2-40B4-BE49-F238E27FC236}">
                <a16:creationId xmlns:a16="http://schemas.microsoft.com/office/drawing/2014/main" id="{6738DF0F-8B2E-44A4-90EE-26F4902E9C9E}"/>
              </a:ext>
            </a:extLst>
          </p:cNvPr>
          <p:cNvSpPr/>
          <p:nvPr/>
        </p:nvSpPr>
        <p:spPr>
          <a:xfrm>
            <a:off x="3930855" y="5253551"/>
            <a:ext cx="1057859" cy="494591"/>
          </a:xfrm>
          <a:prstGeom prst="rect">
            <a:avLst/>
          </a:prstGeom>
          <a:solidFill>
            <a:srgbClr val="000000"/>
          </a:solidFill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Stego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frame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Google Shape;231;p9">
            <a:extLst>
              <a:ext uri="{FF2B5EF4-FFF2-40B4-BE49-F238E27FC236}">
                <a16:creationId xmlns:a16="http://schemas.microsoft.com/office/drawing/2014/main" id="{920CFF17-4624-493A-9F6D-F1B1DD18ED41}"/>
              </a:ext>
            </a:extLst>
          </p:cNvPr>
          <p:cNvSpPr/>
          <p:nvPr/>
        </p:nvSpPr>
        <p:spPr>
          <a:xfrm>
            <a:off x="6758726" y="4527484"/>
            <a:ext cx="889124" cy="792088"/>
          </a:xfrm>
          <a:prstGeom prst="rect">
            <a:avLst/>
          </a:prstGeom>
          <a:solidFill>
            <a:srgbClr val="000000"/>
          </a:solidFill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Other frames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Google Shape;238;p9">
            <a:extLst>
              <a:ext uri="{FF2B5EF4-FFF2-40B4-BE49-F238E27FC236}">
                <a16:creationId xmlns:a16="http://schemas.microsoft.com/office/drawing/2014/main" id="{4FFE826B-758E-4223-BC78-B2FA59CAFF38}"/>
              </a:ext>
            </a:extLst>
          </p:cNvPr>
          <p:cNvSpPr/>
          <p:nvPr/>
        </p:nvSpPr>
        <p:spPr>
          <a:xfrm>
            <a:off x="5360877" y="5873855"/>
            <a:ext cx="1259271" cy="731253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Stego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video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3" name="Google Shape;221;p9">
            <a:extLst>
              <a:ext uri="{FF2B5EF4-FFF2-40B4-BE49-F238E27FC236}">
                <a16:creationId xmlns:a16="http://schemas.microsoft.com/office/drawing/2014/main" id="{FAFB24BF-A3E1-4571-915C-D2607F29CE30}"/>
              </a:ext>
            </a:extLst>
          </p:cNvPr>
          <p:cNvCxnSpPr/>
          <p:nvPr/>
        </p:nvCxnSpPr>
        <p:spPr>
          <a:xfrm>
            <a:off x="4534960" y="4261559"/>
            <a:ext cx="2520280" cy="0"/>
          </a:xfrm>
          <a:prstGeom prst="straightConnector1">
            <a:avLst/>
          </a:prstGeom>
          <a:noFill/>
          <a:ln w="1270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4726F27-DC13-4BC3-9DDF-A06D03B3C89B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5768584" y="2462714"/>
            <a:ext cx="1" cy="1686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8E36467-90D9-4056-ADD2-33080EBDA591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5768584" y="3279416"/>
            <a:ext cx="19039" cy="1900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8EA1A78-BEDC-44CE-A1C5-18A95496AD45}"/>
              </a:ext>
            </a:extLst>
          </p:cNvPr>
          <p:cNvCxnSpPr>
            <a:cxnSpLocks/>
          </p:cNvCxnSpPr>
          <p:nvPr/>
        </p:nvCxnSpPr>
        <p:spPr>
          <a:xfrm>
            <a:off x="4539781" y="4242375"/>
            <a:ext cx="0" cy="2851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813347D-8B9F-46A5-AB55-FEF92FB45703}"/>
              </a:ext>
            </a:extLst>
          </p:cNvPr>
          <p:cNvCxnSpPr>
            <a:cxnSpLocks/>
          </p:cNvCxnSpPr>
          <p:nvPr/>
        </p:nvCxnSpPr>
        <p:spPr>
          <a:xfrm>
            <a:off x="7012564" y="4242375"/>
            <a:ext cx="0" cy="2851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DD567EB-37CA-4616-B66A-B0945B0FD69C}"/>
              </a:ext>
            </a:extLst>
          </p:cNvPr>
          <p:cNvCxnSpPr>
            <a:stCxn id="9" idx="3"/>
          </p:cNvCxnSpPr>
          <p:nvPr/>
        </p:nvCxnSpPr>
        <p:spPr>
          <a:xfrm>
            <a:off x="3567576" y="4817927"/>
            <a:ext cx="36327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F342FF6-C5FD-41DA-8345-82C9AADBBF7D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4434912" y="4987249"/>
            <a:ext cx="24873" cy="2663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216705E-AE58-4920-BF7A-4726D217C3CF}"/>
              </a:ext>
            </a:extLst>
          </p:cNvPr>
          <p:cNvCxnSpPr>
            <a:stCxn id="10" idx="3"/>
          </p:cNvCxnSpPr>
          <p:nvPr/>
        </p:nvCxnSpPr>
        <p:spPr>
          <a:xfrm flipV="1">
            <a:off x="4988714" y="5500846"/>
            <a:ext cx="206652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74F7052-F707-494C-A470-507BA835B1DA}"/>
              </a:ext>
            </a:extLst>
          </p:cNvPr>
          <p:cNvCxnSpPr/>
          <p:nvPr/>
        </p:nvCxnSpPr>
        <p:spPr>
          <a:xfrm>
            <a:off x="7012564" y="5319572"/>
            <a:ext cx="0" cy="1999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14D0D14-3C28-4060-8F53-057D37AE5AB5}"/>
              </a:ext>
            </a:extLst>
          </p:cNvPr>
          <p:cNvCxnSpPr>
            <a:endCxn id="12" idx="0"/>
          </p:cNvCxnSpPr>
          <p:nvPr/>
        </p:nvCxnSpPr>
        <p:spPr>
          <a:xfrm>
            <a:off x="5990512" y="5500846"/>
            <a:ext cx="1" cy="3730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604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82E6-6680-418F-BBFD-D8E07F80C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 - decoding</a:t>
            </a:r>
          </a:p>
        </p:txBody>
      </p:sp>
      <p:sp>
        <p:nvSpPr>
          <p:cNvPr id="4" name="Google Shape;249;p10">
            <a:extLst>
              <a:ext uri="{FF2B5EF4-FFF2-40B4-BE49-F238E27FC236}">
                <a16:creationId xmlns:a16="http://schemas.microsoft.com/office/drawing/2014/main" id="{87B2C4DB-52DB-49C5-9339-D3A6ED6EA17B}"/>
              </a:ext>
            </a:extLst>
          </p:cNvPr>
          <p:cNvSpPr/>
          <p:nvPr/>
        </p:nvSpPr>
        <p:spPr>
          <a:xfrm>
            <a:off x="5781831" y="1651843"/>
            <a:ext cx="1074818" cy="589627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Stego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Video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251;p10">
            <a:extLst>
              <a:ext uri="{FF2B5EF4-FFF2-40B4-BE49-F238E27FC236}">
                <a16:creationId xmlns:a16="http://schemas.microsoft.com/office/drawing/2014/main" id="{C071A277-4739-493F-928A-C9711F7E84EF}"/>
              </a:ext>
            </a:extLst>
          </p:cNvPr>
          <p:cNvSpPr/>
          <p:nvPr/>
        </p:nvSpPr>
        <p:spPr>
          <a:xfrm>
            <a:off x="5419140" y="2457493"/>
            <a:ext cx="1800200" cy="648072"/>
          </a:xfrm>
          <a:prstGeom prst="rect">
            <a:avLst/>
          </a:prstGeom>
          <a:solidFill>
            <a:srgbClr val="000000"/>
          </a:solidFill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collect information of the input video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Google Shape;255;p10">
            <a:extLst>
              <a:ext uri="{FF2B5EF4-FFF2-40B4-BE49-F238E27FC236}">
                <a16:creationId xmlns:a16="http://schemas.microsoft.com/office/drawing/2014/main" id="{A0EACD0A-9B24-413E-8B24-D28B3CCA9F6E}"/>
              </a:ext>
            </a:extLst>
          </p:cNvPr>
          <p:cNvSpPr/>
          <p:nvPr/>
        </p:nvSpPr>
        <p:spPr>
          <a:xfrm>
            <a:off x="5848648" y="3307898"/>
            <a:ext cx="1008000" cy="792000"/>
          </a:xfrm>
          <a:prstGeom prst="rect">
            <a:avLst/>
          </a:prstGeom>
          <a:solidFill>
            <a:srgbClr val="000000"/>
          </a:solidFill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Cover frames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Google Shape;262;p10">
            <a:extLst>
              <a:ext uri="{FF2B5EF4-FFF2-40B4-BE49-F238E27FC236}">
                <a16:creationId xmlns:a16="http://schemas.microsoft.com/office/drawing/2014/main" id="{5F934223-D3A4-42AD-9627-9D56D31D2999}"/>
              </a:ext>
            </a:extLst>
          </p:cNvPr>
          <p:cNvSpPr/>
          <p:nvPr/>
        </p:nvSpPr>
        <p:spPr>
          <a:xfrm>
            <a:off x="4469592" y="4250742"/>
            <a:ext cx="1008113" cy="432047"/>
          </a:xfrm>
          <a:prstGeom prst="rect">
            <a:avLst/>
          </a:prstGeom>
          <a:solidFill>
            <a:srgbClr val="000000"/>
          </a:solidFill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Stego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frame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Google Shape;268;p10">
            <a:extLst>
              <a:ext uri="{FF2B5EF4-FFF2-40B4-BE49-F238E27FC236}">
                <a16:creationId xmlns:a16="http://schemas.microsoft.com/office/drawing/2014/main" id="{E634EDBC-9110-42EB-93E1-6532DC26FC34}"/>
              </a:ext>
            </a:extLst>
          </p:cNvPr>
          <p:cNvSpPr/>
          <p:nvPr/>
        </p:nvSpPr>
        <p:spPr>
          <a:xfrm>
            <a:off x="3070957" y="4142765"/>
            <a:ext cx="1008000" cy="648000"/>
          </a:xfrm>
          <a:prstGeom prst="rect">
            <a:avLst/>
          </a:prstGeom>
          <a:solidFill>
            <a:srgbClr val="000000"/>
          </a:solidFill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Secret Image/ Text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267;p10">
            <a:extLst>
              <a:ext uri="{FF2B5EF4-FFF2-40B4-BE49-F238E27FC236}">
                <a16:creationId xmlns:a16="http://schemas.microsoft.com/office/drawing/2014/main" id="{069E0709-C2BD-4820-A55C-9F3F5D65BA1B}"/>
              </a:ext>
            </a:extLst>
          </p:cNvPr>
          <p:cNvSpPr/>
          <p:nvPr/>
        </p:nvSpPr>
        <p:spPr>
          <a:xfrm>
            <a:off x="7183501" y="4325668"/>
            <a:ext cx="853492" cy="792088"/>
          </a:xfrm>
          <a:prstGeom prst="rect">
            <a:avLst/>
          </a:prstGeom>
          <a:solidFill>
            <a:srgbClr val="000000"/>
          </a:solidFill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Other frames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Google Shape;273;p10">
            <a:extLst>
              <a:ext uri="{FF2B5EF4-FFF2-40B4-BE49-F238E27FC236}">
                <a16:creationId xmlns:a16="http://schemas.microsoft.com/office/drawing/2014/main" id="{FB8A1FE1-86CA-4C44-A90B-DEA346AA841D}"/>
              </a:ext>
            </a:extLst>
          </p:cNvPr>
          <p:cNvSpPr/>
          <p:nvPr/>
        </p:nvSpPr>
        <p:spPr>
          <a:xfrm>
            <a:off x="5857591" y="5847315"/>
            <a:ext cx="1061346" cy="647843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Cover Video .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Avi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file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263;p10">
            <a:extLst>
              <a:ext uri="{FF2B5EF4-FFF2-40B4-BE49-F238E27FC236}">
                <a16:creationId xmlns:a16="http://schemas.microsoft.com/office/drawing/2014/main" id="{794FB1C0-7DB9-4ADB-9C46-FF24662F6D87}"/>
              </a:ext>
            </a:extLst>
          </p:cNvPr>
          <p:cNvSpPr/>
          <p:nvPr/>
        </p:nvSpPr>
        <p:spPr>
          <a:xfrm>
            <a:off x="4469592" y="5082697"/>
            <a:ext cx="1008113" cy="432047"/>
          </a:xfrm>
          <a:prstGeom prst="rect">
            <a:avLst/>
          </a:prstGeom>
          <a:solidFill>
            <a:srgbClr val="000000"/>
          </a:solidFill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Frame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964649-6888-443F-8FD3-6105113179EF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477705" y="5298721"/>
            <a:ext cx="21325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6322DB-EE45-42EF-9E67-1342EBA4212D}"/>
              </a:ext>
            </a:extLst>
          </p:cNvPr>
          <p:cNvCxnSpPr>
            <a:stCxn id="11" idx="2"/>
          </p:cNvCxnSpPr>
          <p:nvPr/>
        </p:nvCxnSpPr>
        <p:spPr>
          <a:xfrm>
            <a:off x="7610247" y="5117756"/>
            <a:ext cx="0" cy="1987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8340C1D-8AB5-4787-8D44-D3FB37DA32FD}"/>
              </a:ext>
            </a:extLst>
          </p:cNvPr>
          <p:cNvCxnSpPr>
            <a:endCxn id="6" idx="1"/>
          </p:cNvCxnSpPr>
          <p:nvPr/>
        </p:nvCxnSpPr>
        <p:spPr>
          <a:xfrm>
            <a:off x="5138737" y="3703898"/>
            <a:ext cx="7099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F4FD083-ABFF-4AB9-BAC5-7CFB333C82DF}"/>
              </a:ext>
            </a:extLst>
          </p:cNvPr>
          <p:cNvCxnSpPr>
            <a:cxnSpLocks/>
          </p:cNvCxnSpPr>
          <p:nvPr/>
        </p:nvCxnSpPr>
        <p:spPr>
          <a:xfrm>
            <a:off x="6856649" y="3709736"/>
            <a:ext cx="7535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E24C37C-6CDC-48BB-8F5C-A558C414F4C2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6319240" y="2241470"/>
            <a:ext cx="0" cy="2160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D0E20C3-9059-4B21-8FF1-5512A4C675D7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6319240" y="3105565"/>
            <a:ext cx="33408" cy="2023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4B22957-AED9-40AC-A664-58B71DD1B4B0}"/>
              </a:ext>
            </a:extLst>
          </p:cNvPr>
          <p:cNvCxnSpPr>
            <a:cxnSpLocks/>
          </p:cNvCxnSpPr>
          <p:nvPr/>
        </p:nvCxnSpPr>
        <p:spPr>
          <a:xfrm>
            <a:off x="5143096" y="3703898"/>
            <a:ext cx="0" cy="546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70AC5B7-169D-475F-8244-69FB8F127384}"/>
              </a:ext>
            </a:extLst>
          </p:cNvPr>
          <p:cNvCxnSpPr>
            <a:stCxn id="10" idx="3"/>
            <a:endCxn id="7" idx="1"/>
          </p:cNvCxnSpPr>
          <p:nvPr/>
        </p:nvCxnSpPr>
        <p:spPr>
          <a:xfrm>
            <a:off x="4078957" y="4466765"/>
            <a:ext cx="39063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11D733F-8856-4D49-B793-3008332F0C73}"/>
              </a:ext>
            </a:extLst>
          </p:cNvPr>
          <p:cNvCxnSpPr>
            <a:stCxn id="7" idx="2"/>
            <a:endCxn id="13" idx="0"/>
          </p:cNvCxnSpPr>
          <p:nvPr/>
        </p:nvCxnSpPr>
        <p:spPr>
          <a:xfrm>
            <a:off x="4973649" y="4682789"/>
            <a:ext cx="0" cy="3999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F4B9073-4196-4452-810E-4028B9934236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610247" y="3715718"/>
            <a:ext cx="0" cy="6099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D2C3E82-8DF3-43F5-8B32-69A8A003526D}"/>
              </a:ext>
            </a:extLst>
          </p:cNvPr>
          <p:cNvCxnSpPr>
            <a:endCxn id="12" idx="0"/>
          </p:cNvCxnSpPr>
          <p:nvPr/>
        </p:nvCxnSpPr>
        <p:spPr>
          <a:xfrm>
            <a:off x="6388264" y="5292739"/>
            <a:ext cx="0" cy="5545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105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767A5-73B0-4D79-BC60-147F975AC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 :- Steganography using LSB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A5ACF-E1E5-4168-8858-6AE06F672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Algorithm Type 1:- Encoding for Text in Image </a:t>
            </a:r>
          </a:p>
          <a:p>
            <a:r>
              <a:rPr lang="en-US" dirty="0"/>
              <a:t>Step 1: Input cover video file or stream. </a:t>
            </a:r>
          </a:p>
          <a:p>
            <a:r>
              <a:rPr lang="en-US" dirty="0"/>
              <a:t>Step 2: Read required information of the cover video. </a:t>
            </a:r>
          </a:p>
          <a:p>
            <a:r>
              <a:rPr lang="en-US" dirty="0"/>
              <a:t>Step 3: Break the video into frames. </a:t>
            </a:r>
          </a:p>
          <a:p>
            <a:r>
              <a:rPr lang="en-US" dirty="0"/>
              <a:t>Step 4: Find ASCII value of character or text to be hidden, this ASCII value is converted into binary format.</a:t>
            </a:r>
          </a:p>
          <a:p>
            <a:r>
              <a:rPr lang="en-US" dirty="0"/>
              <a:t>Step 5: Embed this binary value into LSB of  RGB  binary value of pixel. </a:t>
            </a:r>
          </a:p>
          <a:p>
            <a:r>
              <a:rPr lang="en-US" dirty="0"/>
              <a:t>Step 6: Regenerate video frames. </a:t>
            </a:r>
          </a:p>
          <a:p>
            <a:r>
              <a:rPr lang="en-US" dirty="0"/>
              <a:t>Step 7: Obtain </a:t>
            </a:r>
            <a:r>
              <a:rPr lang="en-US" dirty="0" err="1"/>
              <a:t>stego</a:t>
            </a:r>
            <a:r>
              <a:rPr lang="en-US" dirty="0"/>
              <a:t> video file or stream.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1431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670FE-211A-4D8C-ACE8-BE1EFB0C2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 :- Steganography using LSB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FB4D5-2504-4D6E-8BD9-48A9442D4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Algorithm Type 1:- Decoding for Text in Image </a:t>
            </a:r>
          </a:p>
          <a:p>
            <a:r>
              <a:rPr lang="en-US" dirty="0"/>
              <a:t>Step 1: Input </a:t>
            </a:r>
            <a:r>
              <a:rPr lang="en-US" dirty="0" err="1"/>
              <a:t>stego</a:t>
            </a:r>
            <a:r>
              <a:rPr lang="en-US" dirty="0"/>
              <a:t> video file or stream. </a:t>
            </a:r>
          </a:p>
          <a:p>
            <a:r>
              <a:rPr lang="en-US" dirty="0"/>
              <a:t>Step 2: Read required information from the </a:t>
            </a:r>
            <a:r>
              <a:rPr lang="en-US" dirty="0" err="1"/>
              <a:t>stego</a:t>
            </a:r>
            <a:r>
              <a:rPr lang="en-US" dirty="0"/>
              <a:t> video. </a:t>
            </a:r>
          </a:p>
          <a:p>
            <a:r>
              <a:rPr lang="en-US" dirty="0"/>
              <a:t>Step 3: Break the video into frames. </a:t>
            </a:r>
          </a:p>
          <a:p>
            <a:r>
              <a:rPr lang="en-US" dirty="0"/>
              <a:t>Step 4:Extract the binary value of character from LSB of RGB binary value of pixels.</a:t>
            </a:r>
          </a:p>
          <a:p>
            <a:r>
              <a:rPr lang="en-US" dirty="0"/>
              <a:t>Step 5: Reconstruct the secret information. </a:t>
            </a:r>
          </a:p>
          <a:p>
            <a:r>
              <a:rPr lang="en-US" dirty="0"/>
              <a:t>Step 6: Regenerate video frames.</a:t>
            </a:r>
          </a:p>
          <a:p>
            <a:r>
              <a:rPr lang="en-US" dirty="0"/>
              <a:t>Step 7: Regenerate cover video 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2569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C6847-60DF-49A0-8A03-18151F7BB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 :- Steganography using LSB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A2709-039D-4049-94F7-2431B889F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Algorithm Type 2:- Encoding for image in Image</a:t>
            </a:r>
          </a:p>
          <a:p>
            <a:r>
              <a:rPr lang="en-US" dirty="0"/>
              <a:t>Step 1: Input video file . </a:t>
            </a:r>
          </a:p>
          <a:p>
            <a:r>
              <a:rPr lang="en-US" dirty="0"/>
              <a:t>Step 2: Read required information from the video. </a:t>
            </a:r>
          </a:p>
          <a:p>
            <a:r>
              <a:rPr lang="en-US" dirty="0"/>
              <a:t>Step 3: Break the video into frames. </a:t>
            </a:r>
          </a:p>
          <a:p>
            <a:r>
              <a:rPr lang="en-US" dirty="0"/>
              <a:t>Step 4:Take 2 MSB bits from pixels of secret image.</a:t>
            </a:r>
          </a:p>
          <a:p>
            <a:r>
              <a:rPr lang="en-US" dirty="0"/>
              <a:t>Step 5:Hide these  2 MSB bits of secret image in 2 </a:t>
            </a:r>
            <a:r>
              <a:rPr lang="en-US" dirty="0" err="1"/>
              <a:t>lsb</a:t>
            </a:r>
            <a:r>
              <a:rPr lang="en-US" dirty="0"/>
              <a:t> bits of cover image (frame) using shift operator.</a:t>
            </a:r>
          </a:p>
          <a:p>
            <a:r>
              <a:rPr lang="en-US" dirty="0"/>
              <a:t>Step 6: Regenerate video frames. </a:t>
            </a:r>
          </a:p>
          <a:p>
            <a:r>
              <a:rPr lang="en-US" dirty="0"/>
              <a:t>Step 7: Obtain </a:t>
            </a:r>
            <a:r>
              <a:rPr lang="en-US" dirty="0" err="1"/>
              <a:t>stego</a:t>
            </a:r>
            <a:r>
              <a:rPr lang="en-US" dirty="0"/>
              <a:t> video file or stream.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9980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C6847-60DF-49A0-8A03-18151F7BB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 :- Steganography using LSB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A2709-039D-4049-94F7-2431B889F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Algorithm Type 2:-Decoding for image in Image</a:t>
            </a:r>
          </a:p>
          <a:p>
            <a:r>
              <a:rPr lang="en-US" dirty="0"/>
              <a:t>Step 1: Input </a:t>
            </a:r>
            <a:r>
              <a:rPr lang="en-US" dirty="0" err="1"/>
              <a:t>stego</a:t>
            </a:r>
            <a:r>
              <a:rPr lang="en-US" dirty="0"/>
              <a:t> video file or stream. </a:t>
            </a:r>
          </a:p>
          <a:p>
            <a:r>
              <a:rPr lang="en-US" dirty="0"/>
              <a:t>Step 2: Read required information from the </a:t>
            </a:r>
            <a:r>
              <a:rPr lang="en-US" dirty="0" err="1"/>
              <a:t>stego</a:t>
            </a:r>
            <a:r>
              <a:rPr lang="en-US" dirty="0"/>
              <a:t> video. </a:t>
            </a:r>
          </a:p>
          <a:p>
            <a:r>
              <a:rPr lang="en-US" dirty="0"/>
              <a:t>Step 3: Break the video into frames. </a:t>
            </a:r>
          </a:p>
          <a:p>
            <a:r>
              <a:rPr lang="en-US" dirty="0"/>
              <a:t>Step 4:Take cover image take binary value of pixels in form of RGB</a:t>
            </a:r>
          </a:p>
          <a:p>
            <a:r>
              <a:rPr lang="en-US" dirty="0"/>
              <a:t>Step 5: Now select 2 LSB bits of  these pixel values, Set these 2 LSB bits of  cover image as 2 MSB bits of images to be extracted.</a:t>
            </a:r>
          </a:p>
          <a:p>
            <a:r>
              <a:rPr lang="en-US" dirty="0"/>
              <a:t>Step 6: Reconstruct the secret image. </a:t>
            </a:r>
          </a:p>
          <a:p>
            <a:r>
              <a:rPr lang="en-US" dirty="0"/>
              <a:t>Step 7: Regenerate video.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9369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5C8B-F995-48DC-8863-254505D0B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Image Steganography Output (text in image)</a:t>
            </a:r>
            <a:endParaRPr lang="en-IN" sz="3200" dirty="0"/>
          </a:p>
        </p:txBody>
      </p:sp>
      <p:pic>
        <p:nvPicPr>
          <p:cNvPr id="4" name="Google Shape;339;g1062e1578dc_0_11">
            <a:extLst>
              <a:ext uri="{FF2B5EF4-FFF2-40B4-BE49-F238E27FC236}">
                <a16:creationId xmlns:a16="http://schemas.microsoft.com/office/drawing/2014/main" id="{203CA48C-ED57-4700-8309-394EA67E1B70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9363" y="2440746"/>
            <a:ext cx="4380218" cy="3220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40;g1062e1578dc_0_11">
            <a:extLst>
              <a:ext uri="{FF2B5EF4-FFF2-40B4-BE49-F238E27FC236}">
                <a16:creationId xmlns:a16="http://schemas.microsoft.com/office/drawing/2014/main" id="{CC2BB67C-1D91-4393-9AF8-F6B822C726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9581" y="1676082"/>
            <a:ext cx="3739670" cy="4495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369FAF-39C0-43D3-8549-3D00ED911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67" y="2186100"/>
            <a:ext cx="3029096" cy="347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926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5C8B-F995-48DC-8863-254505D0B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554" y="186528"/>
            <a:ext cx="9905998" cy="1478570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sz="3200" dirty="0"/>
              <a:t>Image Steganography Output (image in image)</a:t>
            </a:r>
            <a:endParaRPr lang="en-IN" dirty="0"/>
          </a:p>
        </p:txBody>
      </p:sp>
      <p:pic>
        <p:nvPicPr>
          <p:cNvPr id="4" name="Google Shape;348;p17">
            <a:extLst>
              <a:ext uri="{FF2B5EF4-FFF2-40B4-BE49-F238E27FC236}">
                <a16:creationId xmlns:a16="http://schemas.microsoft.com/office/drawing/2014/main" id="{EC2D105F-2B51-419C-9149-29A3926DC294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3803" y="1395917"/>
            <a:ext cx="3795089" cy="2644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47;p17">
            <a:extLst>
              <a:ext uri="{FF2B5EF4-FFF2-40B4-BE49-F238E27FC236}">
                <a16:creationId xmlns:a16="http://schemas.microsoft.com/office/drawing/2014/main" id="{DFFD0B0A-6513-405C-BAE7-6B9BE2DEEC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2120" t="-1360" r="2119" b="1359"/>
          <a:stretch/>
        </p:blipFill>
        <p:spPr>
          <a:xfrm>
            <a:off x="3933263" y="4014061"/>
            <a:ext cx="5050580" cy="2843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B05134-217C-48ED-B148-D0E0E0082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547" y="1297086"/>
            <a:ext cx="2743200" cy="274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06543A-91A6-40F6-A2E4-D423DF4425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0736" y="1343278"/>
            <a:ext cx="2650816" cy="265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077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5C8B-F995-48DC-8863-254505D0B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Video Steganography Output</a:t>
            </a:r>
          </a:p>
        </p:txBody>
      </p:sp>
      <p:pic>
        <p:nvPicPr>
          <p:cNvPr id="4" name="Google Shape;356;p18">
            <a:extLst>
              <a:ext uri="{FF2B5EF4-FFF2-40B4-BE49-F238E27FC236}">
                <a16:creationId xmlns:a16="http://schemas.microsoft.com/office/drawing/2014/main" id="{41D98725-0206-451D-9446-5871EAD02BE6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13055" y="1665137"/>
            <a:ext cx="5216691" cy="2558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54;p18">
            <a:extLst>
              <a:ext uri="{FF2B5EF4-FFF2-40B4-BE49-F238E27FC236}">
                <a16:creationId xmlns:a16="http://schemas.microsoft.com/office/drawing/2014/main" id="{B4831836-5164-43A2-96EA-36AF3B5AFB3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713" y="1739689"/>
            <a:ext cx="3472777" cy="2484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55;p18">
            <a:extLst>
              <a:ext uri="{FF2B5EF4-FFF2-40B4-BE49-F238E27FC236}">
                <a16:creationId xmlns:a16="http://schemas.microsoft.com/office/drawing/2014/main" id="{C6CDEA9F-2DE7-43E3-BC35-7FBBDE000EC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7923" y="3956318"/>
            <a:ext cx="4698775" cy="26286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0629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5C8B-F995-48DC-8863-254505D0B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Advancement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A72B3-4858-4BE9-9B2A-FAA896926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to use different algorithm in order to get more accuracy. </a:t>
            </a:r>
          </a:p>
          <a:p>
            <a:r>
              <a:rPr lang="en-US" dirty="0"/>
              <a:t>In future advancement different methods can be used to apply steganography such as DWT, DFT, DCT method or Pixel Value Differencing (PVD).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6405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5C8B-F995-48DC-8863-254505D0B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A72B3-4858-4BE9-9B2A-FAA896926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Proposed method of video steganography improves security and it can hide more information compared to other methods.</a:t>
            </a:r>
          </a:p>
          <a:p>
            <a:r>
              <a:rPr lang="en-US" dirty="0"/>
              <a:t>Least Significant Bit Embeddings (LSB) are a general steganographic technique that may be employed to embed data into a variety of digital media, the most studied applications are using LSB embedding to hide one image inside another.</a:t>
            </a:r>
          </a:p>
          <a:p>
            <a:r>
              <a:rPr lang="en-US" dirty="0"/>
              <a:t>This technique utilizes cover video files in spatial domain to conceal the presence of sensitive data . </a:t>
            </a:r>
          </a:p>
          <a:p>
            <a:r>
              <a:rPr lang="en-US" dirty="0"/>
              <a:t>The app like interface in python is easy to use and understand.</a:t>
            </a:r>
          </a:p>
          <a:p>
            <a:r>
              <a:rPr lang="en-US" dirty="0"/>
              <a:t>The LSB technique still needs advancement to provide effective steganography solutions.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3724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C190-1063-4B29-BF23-9C65BFBC6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life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51FFF-112A-422C-8877-B4F093E0C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can be used in military, industries, government…</a:t>
            </a:r>
          </a:p>
          <a:p>
            <a:r>
              <a:rPr lang="en-US" dirty="0"/>
              <a:t>It can be used whenever protection against data alteration and data hiding is needed, as the observer have no idea that a secret data is hidden in a video. So there will be no chances to alter the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2894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DD32E-8487-4980-8F78-CD0AA1C0A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Atmanirbhar</a:t>
            </a:r>
            <a:r>
              <a:rPr lang="en-IN" dirty="0"/>
              <a:t> Bharat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768E8-CE70-4BAA-82A6-F4B6368B0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India has seen an explosive rise in demand for reliable Data Security solutions in the past few decades. </a:t>
            </a:r>
          </a:p>
          <a:p>
            <a:r>
              <a:rPr lang="en-US" dirty="0"/>
              <a:t>However, a large majority of state-of-the-art encryption software's used in India are non-indigenous and prone to various risks.</a:t>
            </a:r>
          </a:p>
          <a:p>
            <a:r>
              <a:rPr lang="en-US" dirty="0"/>
              <a:t>The approach we are proposing can be easily developed further into an online application or software, and satisfy this prevalent need of a Made in India solution. </a:t>
            </a:r>
          </a:p>
          <a:p>
            <a:r>
              <a:rPr lang="en-US" dirty="0"/>
              <a:t>It can be used by government organizations for transferring sensitive national data, to individuals sharing private files securely.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6219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5C3C6-F3C0-4F4E-8133-FD33FE63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14" y="1382486"/>
            <a:ext cx="9905955" cy="3429000"/>
          </a:xfrm>
        </p:spPr>
        <p:txBody>
          <a:bodyPr>
            <a:normAutofit/>
          </a:bodyPr>
          <a:lstStyle/>
          <a:p>
            <a:pPr algn="ctr"/>
            <a:r>
              <a:rPr lang="en-IN" sz="8800" dirty="0"/>
              <a:t>THANK YOU!!!!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6F4ED-8AA2-40F4-9B79-08EAA3B24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2620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